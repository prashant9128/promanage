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0" y="2011680"/>
            <a:ext cx="6858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400" b="1">
                <a:solidFill>
                  <a:srgbClr val="14B8A6"/>
                </a:solidFill>
                <a:latin typeface="Arial"/>
              </a:defRPr>
            </a:pPr>
            <a:r>
              <a:t>ProManage 🚀</a:t>
            </a:r>
          </a:p>
          <a:p>
            <a:pPr>
              <a:spcBef>
                <a:spcPts val="1500"/>
              </a:spcBef>
              <a:defRPr sz="2800">
                <a:solidFill>
                  <a:srgbClr val="FFFFFF"/>
                </a:solidFill>
                <a:latin typeface="Arial"/>
              </a:defRPr>
            </a:pPr>
            <a:r>
              <a:t>A Premium MERN SaaS Task Management</a:t>
            </a:r>
            <a:br/>
            <a:r>
              <a:t>&amp; DevOps Platform</a:t>
            </a:r>
          </a:p>
          <a:p>
            <a:pPr>
              <a:spcBef>
                <a:spcPts val="4000"/>
              </a:spcBef>
              <a:defRPr sz="1600">
                <a:solidFill>
                  <a:srgbClr val="64748B"/>
                </a:solidFill>
                <a:latin typeface="Arial"/>
              </a:defRPr>
            </a:pPr>
            <a:r>
              <a:t>Presented by: Prashant Kumar Sharma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88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0"/>
            <a:ext cx="108200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ProManage | Task Management &amp; DevOps Platform</a:t>
            </a:r>
          </a:p>
          <a:p>
            <a:pPr algn="r">
              <a:defRPr sz="1000">
                <a:solidFill>
                  <a:srgbClr val="64748B"/>
                </a:solidFill>
                <a:latin typeface="Arial"/>
              </a:defRPr>
            </a:pPr>
            <a:r>
              <a:t>Slide 2 of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200" b="1">
                <a:solidFill>
                  <a:srgbClr val="0F172A"/>
                </a:solidFill>
                <a:latin typeface="Arial"/>
              </a:defRPr>
            </a:pPr>
            <a:r>
              <a:t>The Challenge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Traditional project management systems isolate source code progress, pipeline results, and infrastructure health from the core task board.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Developers, product managers, and admins are forced to juggle multiple tools (Jira, GitHub Actions, Docker Dashboard) to get a full view of project status.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Lack of central tracking leads to deployment bottlenecks, unmonitored server crashes, and slower release cycles.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The Solution: ProManage</a:t>
            </a:r>
          </a:p>
          <a:p>
            <a:r>
              <a:t>• A unified DevOps SaaS platform combining drag-and-drop Kanban task boards with real-time DevOps metrics.</a:t>
            </a:r>
          </a:p>
          <a:p>
            <a:r>
              <a:t>• Clickable metrics cards on the dashboard and interactive landing page feature cards for seamless user navigation.</a:t>
            </a:r>
          </a:p>
          <a:p>
            <a:r>
              <a:t>• Interactive analytics dashboards that sync task updates, deployment histories, and pipeline feedback loops seamlessly.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88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Core Features: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0"/>
            <a:ext cx="108200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ProManage | Task Management &amp; DevOps Platform</a:t>
            </a:r>
          </a:p>
          <a:p>
            <a:pPr algn="r">
              <a:defRPr sz="1000">
                <a:solidFill>
                  <a:srgbClr val="64748B"/>
                </a:solidFill>
                <a:latin typeface="Arial"/>
              </a:defRPr>
            </a:pPr>
            <a:r>
              <a:t>Slide 3 of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45920"/>
            <a:ext cx="329184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r>
              <a:t>Drag-and-Drop Kanban</a:t>
            </a:r>
          </a:p>
          <a:p>
            <a:r>
              <a:t>Fluid task drag-and-drop system. Supports URL-driven filtering (All, Pending, Completed) with dynamic column visibility and header tab controls.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645920"/>
            <a:ext cx="329184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0"/>
              </a:spcAft>
              <a:defRPr sz="1800" b="1">
                <a:solidFill>
                  <a:srgbClr val="0F172A"/>
                </a:solidFill>
                <a:latin typeface="Arial"/>
              </a:defRPr>
            </a:pPr>
            <a:r>
              <a:t>Workspaces &amp; Teams</a:t>
            </a:r>
          </a:p>
          <a:p>
            <a:pPr algn="l">
              <a:spcBef>
                <a:spcPts val="10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Dedicated collaborative spaces for individual projects. Add members, manage profiles, track team-wide actions, and view logs.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79" y="1645920"/>
            <a:ext cx="329184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0"/>
              </a:spcAft>
              <a:defRPr sz="1800" b="1">
                <a:solidFill>
                  <a:srgbClr val="0F172A"/>
                </a:solidFill>
                <a:latin typeface="Arial"/>
              </a:defRPr>
            </a:pPr>
            <a:r>
              <a:t>Security &amp; Roles</a:t>
            </a:r>
          </a:p>
          <a:p>
            <a:pPr algn="l">
              <a:spcBef>
                <a:spcPts val="10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Role-Based Access Control (RBAC) ensuring precise permissions for Admin, Manager, and Developer tiers, reinforced with JWT auth.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88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Core Features: DevOps &amp;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0"/>
            <a:ext cx="108200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ProManage | Task Management &amp; DevOps Platform</a:t>
            </a:r>
          </a:p>
          <a:p>
            <a:pPr algn="r">
              <a:defRPr sz="1000">
                <a:solidFill>
                  <a:srgbClr val="64748B"/>
                </a:solidFill>
                <a:latin typeface="Arial"/>
              </a:defRPr>
            </a:pPr>
            <a:r>
              <a:t>Slide 4 of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45920"/>
            <a:ext cx="5029200" cy="41148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5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CI/CD &amp; Container Status</a:t>
            </a:r>
          </a:p>
          <a:p>
            <a:pPr algn="l">
              <a:spcBef>
                <a:spcPts val="1000"/>
              </a:spcBef>
              <a:defRPr sz="1500">
                <a:solidFill>
                  <a:srgbClr val="FFFFFF"/>
                </a:solidFill>
                <a:latin typeface="Arial"/>
              </a:defRPr>
            </a:pPr>
            <a:r>
              <a:t>Real-time tracking of code deployment pipelines (Checkout, Install, Test, Build, Deploy stages). Integrated Docker dashboard displaying host container names, CPU load, memory utilization, and network ports.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645920"/>
            <a:ext cx="5029200" cy="41148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r>
              <a:t>Interactive Analytics &amp; Clickable Dashboard</a:t>
            </a:r>
          </a:p>
          <a:p>
            <a:r>
              <a:t>Metrics widgets (Total, Completed, Pending) now act as clickable shortcuts, dynamically filtering tasks on Kanban board. Syncs with real-time audit feeds.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88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0"/>
            <a:ext cx="108200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ProManage | Task Management &amp; DevOps Platform</a:t>
            </a:r>
          </a:p>
          <a:p>
            <a:pPr algn="r">
              <a:defRPr sz="1000">
                <a:solidFill>
                  <a:srgbClr val="64748B"/>
                </a:solidFill>
                <a:latin typeface="Arial"/>
              </a:defRPr>
            </a:pPr>
            <a:r>
              <a:t>Slide 5 of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45920"/>
            <a:ext cx="329184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5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Frontend 💻</a:t>
            </a:r>
          </a:p>
          <a:p>
            <a:pPr>
              <a:spcBef>
                <a:spcPts val="8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✔  React 18 &amp; TypeScript</a:t>
            </a:r>
          </a:p>
          <a:p>
            <a:pPr>
              <a:spcBef>
                <a:spcPts val="8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✔  TailwindCSS &amp; CSS Grid</a:t>
            </a:r>
          </a:p>
          <a:p>
            <a:pPr>
              <a:spcBef>
                <a:spcPts val="8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✔  Vite (Fast Bundler)</a:t>
            </a:r>
          </a:p>
          <a:p>
            <a:pPr>
              <a:spcBef>
                <a:spcPts val="8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✔  Framer Motion (Animations)</a:t>
            </a:r>
          </a:p>
          <a:p>
            <a:pPr>
              <a:spcBef>
                <a:spcPts val="8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✔  Recharts (Visualizations)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645920"/>
            <a:ext cx="329184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5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Backend ⚙️</a:t>
            </a:r>
          </a:p>
          <a:p>
            <a:pPr>
              <a:spcBef>
                <a:spcPts val="8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✔  Node.js Runtime</a:t>
            </a:r>
          </a:p>
          <a:p>
            <a:pPr>
              <a:spcBef>
                <a:spcPts val="8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✔  Express.js Framework</a:t>
            </a:r>
          </a:p>
          <a:p>
            <a:pPr>
              <a:spcBef>
                <a:spcPts val="8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✔  MongoDB Document DB</a:t>
            </a:r>
          </a:p>
          <a:p>
            <a:pPr>
              <a:spcBef>
                <a:spcPts val="8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✔  Mongoose ORM Schema</a:t>
            </a:r>
          </a:p>
          <a:p>
            <a:pPr>
              <a:spcBef>
                <a:spcPts val="8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✔  JWT (Auth Tokens)</a:t>
            </a:r>
          </a:p>
          <a:p>
            <a:pPr>
              <a:spcBef>
                <a:spcPts val="8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✔  Nodemailer (OTP Delivery)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79" y="1645920"/>
            <a:ext cx="329184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5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DevOps &amp; CI/CD 🚀</a:t>
            </a:r>
          </a:p>
          <a:p>
            <a:pPr>
              <a:spcBef>
                <a:spcPts val="8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✔  GitHub Actions Workflow</a:t>
            </a:r>
          </a:p>
          <a:p>
            <a:pPr>
              <a:spcBef>
                <a:spcPts val="8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✔  In-Memory Test Runners</a:t>
            </a:r>
          </a:p>
          <a:p>
            <a:pPr>
              <a:spcBef>
                <a:spcPts val="8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✔  Docker Containerization</a:t>
            </a:r>
          </a:p>
          <a:p>
            <a:pPr>
              <a:spcBef>
                <a:spcPts val="8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✔  Docker Compose Orchestration</a:t>
            </a:r>
          </a:p>
          <a:p>
            <a:pPr>
              <a:spcBef>
                <a:spcPts val="800"/>
              </a:spcBef>
              <a:defRPr sz="1500">
                <a:solidFill>
                  <a:srgbClr val="1E293B"/>
                </a:solidFill>
                <a:latin typeface="Arial"/>
              </a:defRPr>
            </a:pPr>
            <a:r>
              <a:t>✔  Local Bridge Networks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88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0"/>
            <a:ext cx="108200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ProManage | Task Management &amp; DevOps Platform</a:t>
            </a:r>
          </a:p>
          <a:p>
            <a:pPr algn="r">
              <a:defRPr sz="1000">
                <a:solidFill>
                  <a:srgbClr val="64748B"/>
                </a:solidFill>
                <a:latin typeface="Arial"/>
              </a:defRPr>
            </a:pPr>
            <a:r>
              <a:t>Slide 6 of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108200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200" b="1">
                <a:solidFill>
                  <a:srgbClr val="0F172A"/>
                </a:solidFill>
                <a:latin typeface="Arial"/>
              </a:defRPr>
            </a:pPr>
            <a:r>
              <a:t>How ProManage Components Interact</a:t>
            </a:r>
          </a:p>
          <a:p>
            <a:pPr>
              <a:spcAft>
                <a:spcPts val="15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✔  Client-Server Communication: React frontend serves the UI client-side, forwarding `/api` operations to the Express backend server dynamically configured through a proxy layer.</a:t>
            </a:r>
          </a:p>
          <a:p>
            <a:pPr>
              <a:spcAft>
                <a:spcPts val="15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✔  Role-Based API Guarding: The server processes requests through authentication and authorization middlewares to restrict admin endpoints, project analytics, and task updates.</a:t>
            </a:r>
          </a:p>
          <a:p>
            <a:pPr>
              <a:spcAft>
                <a:spcPts val="15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✔  Database Architecture: Core entities (Users, Projects, Tasks, Activities) are connected via standard MongoDB ObjectId relations. In-memory databases are utilized during automated testing pipelines.</a:t>
            </a:r>
          </a:p>
          <a:p>
            <a:pPr>
              <a:spcAft>
                <a:spcPts val="15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✔  Container Isolation: Separate Docker containers isolate services within a custom bridge network, allowing backend endpoints to target 'mongodb:27017' internally while mapped safely on the host machine.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88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Local Setup &amp; DevOps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0"/>
            <a:ext cx="108200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ProManage | Task Management &amp; DevOps Platform</a:t>
            </a:r>
          </a:p>
          <a:p>
            <a:pPr algn="r">
              <a:defRPr sz="1000">
                <a:solidFill>
                  <a:srgbClr val="64748B"/>
                </a:solidFill>
                <a:latin typeface="Arial"/>
              </a:defRPr>
            </a:pPr>
            <a:r>
              <a:t>Slide 7 of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200" b="1">
                <a:solidFill>
                  <a:srgbClr val="0F172A"/>
                </a:solidFill>
                <a:latin typeface="Arial"/>
              </a:defRPr>
            </a:pPr>
            <a:r>
              <a:t>GitHub Actions CI Pipeline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Triggered on push/PR: Automates quality gates whenever code changes are sent to 'main'.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Backend CI Job: Standardizes testing on ubuntu-22.04, spins up in-memory MongoDB, injects JWT secrets dynamically, and runs 61 core API tests.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Frontend CI Job: Installs client packages, validates TypeScript typechecking, and compiles Vite assets successfully.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200" b="1">
                <a:solidFill>
                  <a:srgbClr val="14B8A6"/>
                </a:solidFill>
                <a:latin typeface="Arial"/>
              </a:defRPr>
            </a:pPr>
            <a:r>
              <a:t>Docker Compose Orchestration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Multi-Container Setup: Orchestrates frontend, backend, and mongodb services dynamically.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Conflict Free Ports: Maps database container port internally while publishing safely to host on port 27018 to avoid host conflicts.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  <a:latin typeface="Arial"/>
              </a:defRPr>
            </a:pPr>
            <a:r>
              <a:t>• Developer Live Reload: Integrates directory volume bindings (excluding node_modules) allowing developers to see updates live inside containerized instances.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4484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0"/>
              </a:spcAft>
              <a:defRPr sz="3600" b="1">
                <a:solidFill>
                  <a:srgbClr val="14B8A6"/>
                </a:solidFill>
                <a:latin typeface="Arial"/>
              </a:defRPr>
            </a:pPr>
            <a:r>
              <a:t>Conclusion &amp; Future Roadmap</a:t>
            </a:r>
          </a:p>
          <a:p>
            <a:pPr algn="ctr">
              <a:spcAft>
                <a:spcPts val="1200"/>
              </a:spcAft>
              <a:defRPr sz="1800">
                <a:solidFill>
                  <a:srgbClr val="FFFFFF"/>
                </a:solidFill>
                <a:latin typeface="Arial"/>
              </a:defRPr>
            </a:pPr>
            <a:r>
              <a:t>✔  ProManage delivers a complete, secure, and production-ready SaaS model for modern teams.</a:t>
            </a:r>
          </a:p>
          <a:p>
            <a:pPr algn="ctr">
              <a:spcAft>
                <a:spcPts val="1200"/>
              </a:spcAft>
              <a:defRPr sz="1800">
                <a:solidFill>
                  <a:srgbClr val="FFFFFF"/>
                </a:solidFill>
                <a:latin typeface="Arial"/>
              </a:defRPr>
            </a:pPr>
            <a:r>
              <a:t>✔  Provides unique value by unifying traditional task tracking with DevOps resource metrics.</a:t>
            </a:r>
          </a:p>
          <a:p>
            <a:pPr algn="ctr">
              <a:spcAft>
                <a:spcPts val="1200"/>
              </a:spcAft>
              <a:defRPr sz="1800">
                <a:solidFill>
                  <a:srgbClr val="FFFFFF"/>
                </a:solidFill>
                <a:latin typeface="Arial"/>
              </a:defRPr>
            </a:pPr>
            <a:r>
              <a:t>✔  Roadmap: Integration with real Kubernetes clusters and cloud providers (AWS, GCP).</a:t>
            </a:r>
          </a:p>
          <a:p>
            <a:pPr algn="ctr">
              <a:spcAft>
                <a:spcPts val="1200"/>
              </a:spcAft>
              <a:defRPr sz="1800">
                <a:solidFill>
                  <a:srgbClr val="FFFFFF"/>
                </a:solidFill>
                <a:latin typeface="Arial"/>
              </a:defRPr>
            </a:pPr>
            <a:r>
              <a:t>✔  Roadmap: Machine learning models for task completion estimation and sprint velocity prediction.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