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0" y="2011680"/>
            <a:ext cx="6858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400" b="1">
                <a:solidFill>
                  <a:srgbClr val="14B8A6"/>
                </a:solidFill>
                <a:latin typeface="Arial"/>
              </a:defRPr>
            </a:pPr>
            <a:r>
              <a:rPr sz="2800" b="1">
                <a:solidFill>
                  <a:srgbClr val="333333"/>
                </a:solidFill>
                <a:latin typeface="Segoe UI"/>
              </a:rPr>
              <a:t>ProManage 🚀
</a:t>
            </a:r>
          </a:p>
          <a:p>
            <a:r>
              <a:rPr sz="1500" b="0">
                <a:solidFill>
                  <a:srgbClr val="333333"/>
                </a:solidFill>
                <a:latin typeface="Segoe UI"/>
              </a:rPr>
              <a:t>A Simple &amp; Premium Task Management &amp; DevOps Platform
</a:t>
            </a:r>
          </a:p>
          <a:p>
            <a:r>
              <a:rPr sz="1300" b="0">
                <a:solidFill>
                  <a:srgbClr val="333333"/>
                </a:solidFill>
                <a:latin typeface="Segoe UI"/>
              </a:rPr>
              <a:t>Presented by: Prashant Kumar Sharma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8288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8200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ProManage | Task Management &amp; DevOps Platform</a:t>
            </a:r>
          </a:p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Slide 2 of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rPr sz="1600" b="1">
                <a:solidFill>
                  <a:srgbClr val="333333"/>
                </a:solidFill>
                <a:latin typeface="Segoe UI"/>
              </a:rPr>
              <a:t>The Problem
</a:t>
            </a:r>
          </a:p>
          <a:p>
            <a:pPr/>
            <a:r>
              <a:rPr sz="1300" b="0">
                <a:solidFill>
                  <a:srgbClr val="333333"/>
                </a:solidFill>
                <a:latin typeface="Segoe UI"/>
              </a:rPr>
              <a:t>• Too Many Tools: Teams must jump between Jira for tasks, GitHub for code, and Docker/Jenkins for server logs.</a:t>
            </a:r>
          </a:p>
          <a:p>
            <a:pPr/>
            <a:r>
              <a:rPr sz="1300" b="0">
                <a:solidFill>
                  <a:srgbClr val="333333"/>
                </a:solidFill>
                <a:latin typeface="Segoe UI"/>
              </a:rPr>
              <a:t>• Disconnected Data: It is hard to see if a task is actually deployed or if the server is running fine.</a:t>
            </a:r>
          </a:p>
          <a:p>
            <a:pPr/>
            <a:r>
              <a:rPr sz="1300" b="0">
                <a:solidFill>
                  <a:srgbClr val="333333"/>
                </a:solidFill>
                <a:latin typeface="Segoe UI"/>
              </a:rPr>
              <a:t>• Release Delays: This disconnect leads to communication gaps, slower deployments, and server crashes.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Segoe UI"/>
              </a:rPr>
              <a:t>The Solution: ProManage
</a:t>
            </a:r>
          </a:p>
          <a:p>
            <a:pPr/>
            <a:r>
              <a:rPr sz="1300" b="0">
                <a:solidFill>
                  <a:srgbClr val="333333"/>
                </a:solidFill>
                <a:latin typeface="Segoe UI"/>
              </a:rPr>
              <a:t>• Single Dashboard: A unified screen showing both your Kanban task board and your live container status.</a:t>
            </a:r>
          </a:p>
          <a:p>
            <a:pPr/>
            <a:r>
              <a:rPr sz="1300" b="0">
                <a:solidFill>
                  <a:srgbClr val="333333"/>
                </a:solidFill>
                <a:latin typeface="Segoe UI"/>
              </a:rPr>
              <a:t>• Live Feedback: Dashboard metrics are clickable, letting you filter tasks on the board instantly.</a:t>
            </a:r>
          </a:p>
          <a:p>
            <a:pPr/>
            <a:r>
              <a:rPr sz="1300" b="0">
                <a:solidFill>
                  <a:srgbClr val="333333"/>
                </a:solidFill>
                <a:latin typeface="Segoe UI"/>
              </a:rPr>
              <a:t>• Real-time Sync: Keeps everyone aligned with live build status, container health, and deploy status.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8288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Core Features: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8200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ProManage | Task Management &amp; DevOps Platform</a:t>
            </a:r>
          </a:p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Slide 3 of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2918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r>
              <a:rPr sz="1400" b="1">
                <a:solidFill>
                  <a:srgbClr val="333333"/>
                </a:solidFill>
                <a:latin typeface="Segoe UI"/>
              </a:rPr>
              <a:t>Drag-and-Drop Kanban
</a:t>
            </a:r>
          </a:p>
          <a:p>
            <a:r>
              <a:rPr sz="1150" b="0">
                <a:solidFill>
                  <a:srgbClr val="333333"/>
                </a:solidFill>
                <a:latin typeface="Segoe UI"/>
              </a:rPr>
              <a:t>Move tasks easily between columns. Click on stats widgets on the dashboard to filter tasks on the board instantly.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645920"/>
            <a:ext cx="32918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0"/>
              </a:spcAft>
              <a:defRPr sz="1800" b="1">
                <a:solidFill>
                  <a:srgbClr val="0F172A"/>
                </a:solidFill>
                <a:latin typeface="Arial"/>
              </a:defRPr>
            </a:pPr>
            <a:r>
              <a:rPr sz="1400" b="1">
                <a:solidFill>
                  <a:srgbClr val="333333"/>
                </a:solidFill>
                <a:latin typeface="Segoe UI"/>
              </a:rPr>
              <a:t>Workspaces &amp; Teams
</a:t>
            </a:r>
          </a:p>
          <a:p>
            <a:r>
              <a:rPr sz="1150" b="0">
                <a:solidFill>
                  <a:srgbClr val="333333"/>
                </a:solidFill>
                <a:latin typeface="Segoe UI"/>
              </a:rPr>
              <a:t>Organize tasks by projects. Add team members, manage user profiles, and track recent activities.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1645920"/>
            <a:ext cx="32918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0"/>
              </a:spcAft>
              <a:defRPr sz="1800" b="1">
                <a:solidFill>
                  <a:srgbClr val="0F172A"/>
                </a:solidFill>
                <a:latin typeface="Arial"/>
              </a:defRPr>
            </a:pPr>
            <a:r>
              <a:rPr sz="1400" b="1">
                <a:solidFill>
                  <a:srgbClr val="333333"/>
                </a:solidFill>
                <a:latin typeface="Segoe UI"/>
              </a:rPr>
              <a:t>Security &amp; Roles
</a:t>
            </a:r>
          </a:p>
          <a:p>
            <a:r>
              <a:rPr sz="1150" b="0">
                <a:solidFill>
                  <a:srgbClr val="333333"/>
                </a:solidFill>
                <a:latin typeface="Segoe UI"/>
              </a:rPr>
              <a:t>Secure login using JWT. Role-Based Access Control (RBAC) keeps Admin, Manager, and Developer permissions safe.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8288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Core Features: DevOps &amp;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8200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ProManage | Task Management &amp; DevOps Platform</a:t>
            </a:r>
          </a:p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Slide 4 of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5029200" cy="41148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500"/>
              </a:spcAft>
              <a:defRPr sz="2000" b="1">
                <a:solidFill>
                  <a:srgbClr val="14B8A6"/>
                </a:solidFill>
                <a:latin typeface="Arial"/>
              </a:defRPr>
            </a:pPr>
            <a:r>
              <a:rPr sz="1400" b="1">
                <a:solidFill>
                  <a:srgbClr val="333333"/>
                </a:solidFill>
                <a:latin typeface="Segoe UI"/>
              </a:rPr>
              <a:t>CI/CD &amp; Container Status
</a:t>
            </a:r>
          </a:p>
          <a:p>
            <a:r>
              <a:rPr sz="1150" b="0">
                <a:solidFill>
                  <a:srgbClr val="333333"/>
                </a:solidFill>
                <a:latin typeface="Segoe UI"/>
              </a:rPr>
              <a:t>Monitor your build pipelines in real-time. View Docker container CPU, memory load, and ports inside the app.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029200" cy="41148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r>
              <a:rPr sz="1400" b="1">
                <a:solidFill>
                  <a:srgbClr val="333333"/>
                </a:solidFill>
                <a:latin typeface="Segoe UI"/>
              </a:rPr>
              <a:t>Interactive Analytics &amp; Jenkins
</a:t>
            </a:r>
          </a:p>
          <a:p>
            <a:r>
              <a:rPr sz="1150" b="0">
                <a:solidFill>
                  <a:srgbClr val="333333"/>
                </a:solidFill>
                <a:latin typeface="Segoe UI"/>
              </a:rPr>
              <a:t>See detailed charts of task distribution and server health. Integrated with local Jenkins for auto-build status.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8288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8200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ProManage | Task Management &amp; DevOps Platform</a:t>
            </a:r>
          </a:p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Slide 5 of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2918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5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rPr sz="1400" b="1">
                <a:solidFill>
                  <a:srgbClr val="333333"/>
                </a:solidFill>
                <a:latin typeface="Segoe UI"/>
              </a:rPr>
              <a:t>Frontend 💻
</a:t>
            </a:r>
          </a:p>
          <a:p>
            <a:pPr/>
            <a:r>
              <a:rPr sz="1150" b="0">
                <a:solidFill>
                  <a:srgbClr val="333333"/>
                </a:solidFill>
                <a:latin typeface="Segoe UI"/>
              </a:rPr>
              <a:t>✔ React &amp; TypeScript</a:t>
            </a:r>
          </a:p>
          <a:p>
            <a:pPr/>
            <a:r>
              <a:rPr sz="1150" b="0">
                <a:solidFill>
                  <a:srgbClr val="333333"/>
                </a:solidFill>
                <a:latin typeface="Segoe UI"/>
              </a:rPr>
              <a:t>✔ Vite (Fast developer builds)</a:t>
            </a:r>
          </a:p>
          <a:p>
            <a:pPr/>
            <a:r>
              <a:rPr sz="1150" b="0">
                <a:solidFill>
                  <a:srgbClr val="333333"/>
                </a:solidFill>
                <a:latin typeface="Segoe UI"/>
              </a:rPr>
              <a:t>✔ TailwindCSS for styling</a:t>
            </a:r>
          </a:p>
          <a:p>
            <a:pPr/>
            <a:r>
              <a:rPr sz="1150" b="0">
                <a:solidFill>
                  <a:srgbClr val="333333"/>
                </a:solidFill>
                <a:latin typeface="Segoe UI"/>
              </a:rPr>
              <a:t>✔ Recharts (Simple graphs)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645920"/>
            <a:ext cx="32918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5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rPr sz="1400" b="1">
                <a:solidFill>
                  <a:srgbClr val="333333"/>
                </a:solidFill>
                <a:latin typeface="Segoe UI"/>
              </a:rPr>
              <a:t>Backend ⚙️
</a:t>
            </a:r>
          </a:p>
          <a:p>
            <a:pPr/>
            <a:r>
              <a:rPr sz="1150" b="0">
                <a:solidFill>
                  <a:srgbClr val="333333"/>
                </a:solidFill>
                <a:latin typeface="Segoe UI"/>
              </a:rPr>
              <a:t>✔ Node.js &amp; Express</a:t>
            </a:r>
          </a:p>
          <a:p>
            <a:pPr/>
            <a:r>
              <a:rPr sz="1150" b="0">
                <a:solidFill>
                  <a:srgbClr val="333333"/>
                </a:solidFill>
                <a:latin typeface="Segoe UI"/>
              </a:rPr>
              <a:t>✔ MongoDB &amp; Mongoose ORM</a:t>
            </a:r>
          </a:p>
          <a:p>
            <a:pPr/>
            <a:r>
              <a:rPr sz="1150" b="0">
                <a:solidFill>
                  <a:srgbClr val="333333"/>
                </a:solidFill>
                <a:latin typeface="Segoe UI"/>
              </a:rPr>
              <a:t>✔ JWT for secure logins</a:t>
            </a:r>
          </a:p>
          <a:p>
            <a:pPr/>
            <a:r>
              <a:rPr sz="1150" b="0">
                <a:solidFill>
                  <a:srgbClr val="333333"/>
                </a:solidFill>
                <a:latin typeface="Segoe UI"/>
              </a:rPr>
              <a:t>✔ Nodemailer for email OTPs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1645920"/>
            <a:ext cx="32918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5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rPr sz="1400" b="1">
                <a:solidFill>
                  <a:srgbClr val="333333"/>
                </a:solidFill>
                <a:latin typeface="Segoe UI"/>
              </a:rPr>
              <a:t>DevOps &amp; CI/CD 🚀
</a:t>
            </a:r>
          </a:p>
          <a:p>
            <a:pPr/>
            <a:r>
              <a:rPr sz="1150" b="0">
                <a:solidFill>
                  <a:srgbClr val="333333"/>
                </a:solidFill>
                <a:latin typeface="Segoe UI"/>
              </a:rPr>
              <a:t>✔ GitHub Actions (Cloud CI)</a:t>
            </a:r>
          </a:p>
          <a:p>
            <a:pPr/>
            <a:r>
              <a:rPr sz="1150" b="0">
                <a:solidFill>
                  <a:srgbClr val="333333"/>
                </a:solidFill>
                <a:latin typeface="Segoe UI"/>
              </a:rPr>
              <a:t>✔ Jenkins (Local CI/CD)</a:t>
            </a:r>
          </a:p>
          <a:p>
            <a:pPr/>
            <a:r>
              <a:rPr sz="1150" b="0">
                <a:solidFill>
                  <a:srgbClr val="333333"/>
                </a:solidFill>
                <a:latin typeface="Segoe UI"/>
              </a:rPr>
              <a:t>✔ Docker Containerization</a:t>
            </a:r>
          </a:p>
          <a:p>
            <a:pPr/>
            <a:r>
              <a:rPr sz="1150" b="0">
                <a:solidFill>
                  <a:srgbClr val="333333"/>
                </a:solidFill>
                <a:latin typeface="Segoe UI"/>
              </a:rPr>
              <a:t>✔ Docker Compose Orchestration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8288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8200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ProManage | Task Management &amp; DevOps Platform</a:t>
            </a:r>
          </a:p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Slide 6 of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108200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rPr sz="1600" b="1">
                <a:solidFill>
                  <a:srgbClr val="333333"/>
                </a:solidFill>
                <a:latin typeface="Segoe UI"/>
              </a:rPr>
              <a:t>How ProManage Works (Simple Architecture)
</a:t>
            </a:r>
          </a:p>
          <a:p>
            <a:pPr/>
            <a:r>
              <a:rPr sz="1300" b="0">
                <a:solidFill>
                  <a:srgbClr val="333333"/>
                </a:solidFill>
                <a:latin typeface="Segoe UI"/>
              </a:rPr>
              <a:t>✔ Client-Server Flow: The React frontend displays the UI and makes API calls to the Express backend.</a:t>
            </a:r>
          </a:p>
          <a:p>
            <a:pPr/>
            <a:r>
              <a:rPr sz="1300" b="0">
                <a:solidFill>
                  <a:srgbClr val="333333"/>
                </a:solidFill>
                <a:latin typeface="Segoe UI"/>
              </a:rPr>
              <a:t>✔ Security Check: Backend middleware checks the JWT token and user role before allowing access to settings.</a:t>
            </a:r>
          </a:p>
          <a:p>
            <a:pPr/>
            <a:r>
              <a:rPr sz="1300" b="0">
                <a:solidFill>
                  <a:srgbClr val="333333"/>
                </a:solidFill>
                <a:latin typeface="Segoe UI"/>
              </a:rPr>
              <a:t>✔ Database: MongoDB stores all users, projects, tasks, and audit logs with clean relations.</a:t>
            </a:r>
          </a:p>
          <a:p>
            <a:pPr/>
            <a:r>
              <a:rPr sz="1300" b="0">
                <a:solidFill>
                  <a:srgbClr val="333333"/>
                </a:solidFill>
                <a:latin typeface="Segoe UI"/>
              </a:rPr>
              <a:t>✔ Containers: Docker separates frontend, backend, and database so they run isolated from host conflicts.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8288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Local Setup &amp; DevOps 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8200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ProManage | Task Management &amp; DevOps Platform</a:t>
            </a:r>
          </a:p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Slide 7 of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rPr sz="1600" b="1">
                <a:solidFill>
                  <a:srgbClr val="333333"/>
                </a:solidFill>
                <a:latin typeface="Segoe UI"/>
              </a:rPr>
              <a:t>GitHub Actions (Cloud Verification)
</a:t>
            </a:r>
          </a:p>
          <a:p>
            <a:pPr/>
            <a:r>
              <a:rPr sz="1300" b="0">
                <a:solidFill>
                  <a:srgbClr val="333333"/>
                </a:solidFill>
                <a:latin typeface="Segoe UI"/>
              </a:rPr>
              <a:t>• Auto Run: Triggers automatically on every code push to GitHub.</a:t>
            </a:r>
          </a:p>
          <a:p>
            <a:pPr/>
            <a:r>
              <a:rPr sz="1300" b="0">
                <a:solidFill>
                  <a:srgbClr val="333333"/>
                </a:solidFill>
                <a:latin typeface="Segoe UI"/>
              </a:rPr>
              <a:t>• Backend CI: Runs 61 API tests using an in-memory database to verify API safety.</a:t>
            </a:r>
          </a:p>
          <a:p>
            <a:pPr/>
            <a:r>
              <a:rPr sz="1300" b="0">
                <a:solidFill>
                  <a:srgbClr val="333333"/>
                </a:solidFill>
                <a:latin typeface="Segoe UI"/>
              </a:rPr>
              <a:t>• Frontend CI: Checks TypeScript types and builds Vite static assets.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1">
                <a:solidFill>
                  <a:srgbClr val="14B8A6"/>
                </a:solidFill>
                <a:latin typeface="Arial"/>
              </a:defRPr>
            </a:pPr>
            <a:r>
              <a:rPr sz="1600" b="1">
                <a:solidFill>
                  <a:srgbClr val="333333"/>
                </a:solidFill>
                <a:latin typeface="Segoe UI"/>
              </a:rPr>
              <a:t>Jenkins (Local Pipeline &amp; Deploy)
</a:t>
            </a:r>
          </a:p>
          <a:p>
            <a:pPr/>
            <a:r>
              <a:rPr sz="1300" b="0">
                <a:solidFill>
                  <a:srgbClr val="333333"/>
                </a:solidFill>
                <a:latin typeface="Segoe UI"/>
              </a:rPr>
              <a:t>• Declarative Pipeline: Uses a custom Jenkinsfile designed to run cross-platform (Windows/Linux).</a:t>
            </a:r>
          </a:p>
          <a:p>
            <a:pPr/>
            <a:r>
              <a:rPr sz="1300" b="0">
                <a:solidFill>
                  <a:srgbClr val="333333"/>
                </a:solidFill>
                <a:latin typeface="Segoe UI"/>
              </a:rPr>
              <a:t>• Auto Build &amp; Test: Pulls repo, runs 61 backend integration tests, and builds Docker images.</a:t>
            </a:r>
          </a:p>
          <a:p>
            <a:pPr/>
            <a:r>
              <a:rPr sz="1300" b="0">
                <a:solidFill>
                  <a:srgbClr val="333333"/>
                </a:solidFill>
                <a:latin typeface="Segoe UI"/>
              </a:rPr>
              <a:t>• Local Deployment: Automatically deploys and updates the app containers on local Docker.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0"/>
              </a:spcAft>
              <a:defRPr sz="3600" b="1">
                <a:solidFill>
                  <a:srgbClr val="14B8A6"/>
                </a:solidFill>
                <a:latin typeface="Arial"/>
              </a:defRPr>
            </a:pPr>
            <a:r>
              <a:rPr sz="1800" b="1">
                <a:solidFill>
                  <a:srgbClr val="333333"/>
                </a:solidFill>
                <a:latin typeface="Segoe UI"/>
              </a:rPr>
              <a:t>Conclusion &amp; Future Roadmap
</a:t>
            </a:r>
          </a:p>
          <a:p>
            <a:pPr/>
            <a:r>
              <a:rPr sz="1300" b="0">
                <a:solidFill>
                  <a:srgbClr val="333333"/>
                </a:solidFill>
                <a:latin typeface="Segoe UI"/>
              </a:rPr>
              <a:t>✔ Summary: ProManage makes project management and DevOps easy by putting them on a single screen.</a:t>
            </a:r>
          </a:p>
          <a:p>
            <a:pPr/>
            <a:r>
              <a:rPr sz="1300" b="0">
                <a:solidFill>
                  <a:srgbClr val="333333"/>
                </a:solidFill>
                <a:latin typeface="Segoe UI"/>
              </a:rPr>
              <a:t>✔ Future - Cloud Deployment: Auto-deploy to cloud hosts like AWS EC2 using CI/CD pipelines.</a:t>
            </a:r>
          </a:p>
          <a:p>
            <a:pPr/>
            <a:r>
              <a:rPr sz="1300" b="0">
                <a:solidFill>
                  <a:srgbClr val="333333"/>
                </a:solidFill>
                <a:latin typeface="Segoe UI"/>
              </a:rPr>
              <a:t>✔ Future - Kubernetes: Connect with Kubernetes clusters for enterprise scaling.</a:t>
            </a:r>
          </a:p>
          <a:p>
            <a:pPr/>
            <a:r>
              <a:rPr sz="1300" b="0">
                <a:solidFill>
                  <a:srgbClr val="333333"/>
                </a:solidFill>
                <a:latin typeface="Segoe UI"/>
              </a:rPr>
              <a:t>✔ Future - AI Estimator: Use machine learning models to predict task completion times.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